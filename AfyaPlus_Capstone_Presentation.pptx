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34840"/>
            <a:ext cx="12191695" cy="73152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63A"/>
                </a:solidFill>
                <a:latin typeface="Calibri"/>
              </a:rPr>
              <a:t>ENTERPRISE-GRADE RAG-POWERED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AfyaPlus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D4A63A"/>
                </a:solidFill>
                <a:latin typeface="Calibri"/>
              </a:rPr>
              <a:t>Privacy-First. Citation-Grounded. Audit-Ready.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D6E3"/>
                </a:solidFill>
                <a:latin typeface="Calibri"/>
              </a:rPr>
              <a:t>Capstone: Enterprise-Grade RAG-Powered Agent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Philip Mutua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6E3"/>
                </a:solidFill>
                <a:latin typeface="Calibri"/>
              </a:rPr>
              <a:t>pmutua/AfyaPlus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AfyaPlus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Purpose: </a:t>
            </a:r>
            <a:r>
              <a:rPr sz="1500" b="0">
                <a:solidFill>
                  <a:srgbClr val="4A5560"/>
                </a:solidFill>
                <a:latin typeface="Calibri"/>
              </a:rPr>
              <a:t>a privacy-aware assistant for AfyaPlus Health members and staff, answering insurance-verification and clinical-routing questions from documented policy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Insurance verification: </a:t>
            </a:r>
            <a:r>
              <a:rPr sz="1500" b="0">
                <a:solidFill>
                  <a:srgbClr val="4A5560"/>
                </a:solidFill>
                <a:latin typeface="Calibri"/>
              </a:rPr>
              <a:t>plan tiers, waiting periods, pre-authorization, claims, coordination of benefits with Kenya's SHA/SHIF, fraud checks, disputes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Clinical routing: </a:t>
            </a:r>
            <a:r>
              <a:rPr sz="1500" b="0">
                <a:solidFill>
                  <a:srgbClr val="4A5560"/>
                </a:solidFill>
                <a:latin typeface="Calibri"/>
              </a:rPr>
              <a:t>classifies inquiries into emergency / urgent / general queues from documented danger-sign guidelines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Hard boundary: </a:t>
            </a:r>
            <a:r>
              <a:rPr sz="1500" b="0">
                <a:solidFill>
                  <a:srgbClr val="4A5560"/>
                </a:solidFill>
                <a:latin typeface="Calibri"/>
              </a:rPr>
              <a:t>never diagnoses, prescribes, or selects a clinical dose - it informs and routes, a qualified human decides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Built audit-ready: </a:t>
            </a:r>
            <a:r>
              <a:rPr sz="1500" b="0">
                <a:solidFill>
                  <a:srgbClr val="4A5560"/>
                </a:solidFill>
                <a:latin typeface="Calibri"/>
              </a:rPr>
              <a:t>every claim is cited, every safeguard is independently verifiable from logs and tests, not just asserted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D4A63A"/>
                </a:solidFill>
              </a:defRPr>
            </a:pPr>
            <a:r>
              <a:t>System at a Glance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Interfaces: FastAPI (/chat) + Chainlit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browser UI (/ui), same privacy boundary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Orchestration: LangChain + LangGraph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agent, exactly 2 tools, no overload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Knowledge: LlamaIndex + Qdrant Cloud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Inference - 25 indexed chunks across 4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documents, live in production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Safety: Kenyan PII masking in, de-masking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out, wrapping every single request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Deployed: live on Railway, CI-gated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This capstone is scoped entirely to the RAG Agent System - no other repo capability is in scope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FIGURE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Required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5560"/>
                </a:solidFill>
                <a:latin typeface="Calibri"/>
              </a:rPr>
              <a:t>Raw input → PII masking → LangChain orchestration → tools + grounded knowledge → grounded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1783080" cy="118872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</a:t>
            </a:r>
            <a:br/>
            <a:r>
              <a:rPr sz="1200" b="1">
                <a:solidFill>
                  <a:srgbClr val="FFFFFF"/>
                </a:solidFill>
              </a:rPr>
              <a:t>Input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raw 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2862072"/>
            <a:ext cx="18288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2377440"/>
            <a:ext cx="1783080" cy="1188720"/>
          </a:xfrm>
          <a:prstGeom prst="roundRect">
            <a:avLst/>
          </a:prstGeom>
          <a:solidFill>
            <a:srgbClr val="D4A63A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Privacy</a:t>
            </a:r>
            <a:br/>
            <a:r>
              <a:rPr sz="1200" b="1">
                <a:solidFill>
                  <a:srgbClr val="FFFFFF"/>
                </a:solidFill>
              </a:rPr>
              <a:t>Masking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PII → tokens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51960" y="2862072"/>
            <a:ext cx="18288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377440"/>
            <a:ext cx="1783080" cy="118872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LangChain /</a:t>
            </a:r>
            <a:br/>
            <a:r>
              <a:rPr sz="1200" b="1">
                <a:solidFill>
                  <a:srgbClr val="FFFFFF"/>
                </a:solidFill>
              </a:rPr>
              <a:t>LangGraph Agent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217920" y="2862072"/>
            <a:ext cx="18288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1783080" cy="118872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Tools +</a:t>
            </a:r>
            <a:br/>
            <a:r>
              <a:rPr sz="1200" b="1">
                <a:solidFill>
                  <a:srgbClr val="FFFFFF"/>
                </a:solidFill>
              </a:rPr>
              <a:t>Knowledge Vault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dynamic call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83880" y="2862072"/>
            <a:ext cx="18288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377440"/>
            <a:ext cx="1783080" cy="1188720"/>
          </a:xfrm>
          <a:prstGeom prst="roundRect">
            <a:avLst/>
          </a:prstGeom>
          <a:solidFill>
            <a:srgbClr val="D4A63A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De-masking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restore PII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49840" y="2862072"/>
            <a:ext cx="18288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2377440"/>
            <a:ext cx="1783080" cy="1188720"/>
          </a:xfrm>
          <a:prstGeom prst="roundRect">
            <a:avLst/>
          </a:prstGeom>
          <a:solidFill>
            <a:srgbClr val="1E7D32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Grounded</a:t>
            </a:r>
            <a:br/>
            <a:r>
              <a:rPr sz="1200" b="1">
                <a:solidFill>
                  <a:srgbClr val="FFFFFF"/>
                </a:solidFill>
              </a:rPr>
              <a:t>Answer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final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2A4A"/>
                </a:solidFill>
                <a:latin typeface="Calibri"/>
              </a:rPr>
              <a:t>•  Implemented exactly as specified - every stage is a real module, not a placeholder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app/safeguards/: </a:t>
            </a:r>
            <a:r>
              <a:rPr sz="1400" b="0">
                <a:solidFill>
                  <a:srgbClr val="4A5560"/>
                </a:solidFill>
                <a:latin typeface="Calibri"/>
              </a:rPr>
              <a:t>masking.py, demasking.py, patterns.py, middleware.py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app/agent/: </a:t>
            </a:r>
            <a:r>
              <a:rPr sz="1400" b="0">
                <a:solidFill>
                  <a:srgbClr val="4A5560"/>
                </a:solidFill>
                <a:latin typeface="Calibri"/>
              </a:rPr>
              <a:t>agent.py (LangChain/LangGraph core), memory.py, prompts.py, tools/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app/rag/: </a:t>
            </a:r>
            <a:r>
              <a:rPr sz="1400" b="0">
                <a:solidFill>
                  <a:srgbClr val="4A5560"/>
                </a:solidFill>
                <a:latin typeface="Calibri"/>
              </a:rPr>
              <a:t>chunking.py, embeddings.py, ingestion.py, retrieval.py, vector_store.py, grounding.py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app/utils/: </a:t>
            </a:r>
            <a:r>
              <a:rPr sz="1400" b="0">
                <a:solidFill>
                  <a:srgbClr val="4A5560"/>
                </a:solidFill>
                <a:latin typeface="Calibri"/>
              </a:rPr>
              <a:t>logging.py - structured, redacted logging for the audit trail (see Audit Capability)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STRUCTURAL REQUIREMENT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Privacy-Masking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0B2A4A"/>
                </a:solidFill>
                <a:latin typeface="Calibri"/>
              </a:rPr>
              <a:t>•  Flags Kenyan PII before anything reaches the model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Phone numbers: </a:t>
            </a:r>
            <a:r>
              <a:rPr sz="1450" b="0">
                <a:solidFill>
                  <a:srgbClr val="4A5560"/>
                </a:solidFill>
                <a:latin typeface="Calibri"/>
              </a:rPr>
              <a:t>+254 and leading-0 formats, both Safaricom/Airtel (7xx) and Telkom (1xx) ranges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Emails: </a:t>
            </a:r>
            <a:r>
              <a:rPr sz="1450" b="0">
                <a:solidFill>
                  <a:srgbClr val="4A5560"/>
                </a:solidFill>
                <a:latin typeface="Calibri"/>
              </a:rPr>
              <a:t>standard local-part/domain/suffix pattern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Member IDs: </a:t>
            </a:r>
            <a:r>
              <a:rPr sz="1450" b="0">
                <a:solidFill>
                  <a:srgbClr val="4A5560"/>
                </a:solidFill>
                <a:latin typeface="Calibri"/>
              </a:rPr>
              <a:t>AfyaPlus format AP-###### (six digits)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0B2A4A"/>
                </a:solidFill>
                <a:latin typeface="Calibri"/>
              </a:rPr>
              <a:t>•  Every match → unique placeholder token, e.g. &lt;&lt;PHONE_1&gt;&gt;, restored only in the final approved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09160"/>
            <a:ext cx="5577840" cy="146304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8A630A"/>
                </a:solidFill>
              </a:defRPr>
            </a:pPr>
            <a:r>
              <a:t>Scope, stated plainly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Covers 3 fixed-format identifiers. Names, National ID,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KRA PIN, addresses, and free-text identifiers are NOT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yet masked - documented as a real gap in privacy.md,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not glossed over. A fixed regex list can never catch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free-text identifiers by design; closing that needs NER,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not just more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0B2A4A"/>
                </a:solidFill>
              </a:defRPr>
            </a:pPr>
            <a:r>
              <a:t>app/safeguards/patterns.py</a:t>
            </a: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  <a:r>
              <a:t>KENYAN_PHONE_PATTERN = re.compile(</a:t>
            </a: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  <a:r>
              <a:t>    r"(?&lt;!\d)(?:\+254|0)[17]\d{8}(?!\d)")</a:t>
            </a: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  <a:r>
              <a:t>EMAIL_PATTERN = re.compile(</a:t>
            </a: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  <a:r>
              <a:t>    r"[A-Za-z0-9._%+-]+@[A-Za-z0-9.-]+\.[A-Za-z]{2,}")</a:t>
            </a: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  <a:r>
              <a:t>MEMBER_ID_PATTERN = re.compile(</a:t>
            </a:r>
          </a:p>
          <a:p>
            <a:pPr>
              <a:defRPr sz="1250">
                <a:solidFill>
                  <a:srgbClr val="0B2A4A"/>
                </a:solidFill>
                <a:latin typeface="Consolas"/>
              </a:defRPr>
            </a:pPr>
            <a:r>
              <a:t>    r"\bAP-\d{6}\b")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Verified: dedicated test cases for +254712345678, 0712345678, 0112345678 - clinical text survives unmangled.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STRUCTURAL REQUIREMENT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Grounded LlamaIndex Knowledge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Parsing: </a:t>
            </a:r>
            <a:r>
              <a:rPr sz="1400" b="0">
                <a:solidFill>
                  <a:srgbClr val="4A5560"/>
                </a:solidFill>
                <a:latin typeface="Calibri"/>
              </a:rPr>
              <a:t>SimpleDirectoryReader + a custom pypdf loader for PDFs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Chunking: </a:t>
            </a:r>
            <a:r>
              <a:rPr sz="1400" b="0">
                <a:solidFill>
                  <a:srgbClr val="4A5560"/>
                </a:solidFill>
                <a:latin typeface="Calibri"/>
              </a:rPr>
              <a:t>sentence-aware SentenceSplitter - 512-token chunks, 64-token overlap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Embedding: </a:t>
            </a:r>
            <a:r>
              <a:rPr sz="1400" b="0">
                <a:solidFill>
                  <a:srgbClr val="4A5560"/>
                </a:solidFill>
                <a:latin typeface="Calibri"/>
              </a:rPr>
              <a:t>Qdrant Cloud Inference, sentence-transformers/all-MiniLM-L6-v2, 384-dim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Storage: </a:t>
            </a:r>
            <a:r>
              <a:rPr sz="1400" b="0">
                <a:solidFill>
                  <a:srgbClr val="4A5560"/>
                </a:solidFill>
                <a:latin typeface="Calibri"/>
              </a:rPr>
              <a:t>persistent Qdrant collection, 25 indexed chunks across 4 documents, live in production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Retrieval tool: </a:t>
            </a:r>
            <a:r>
              <a:rPr sz="1400" b="0">
                <a:solidFill>
                  <a:srgbClr val="4A5560"/>
                </a:solidFill>
                <a:latin typeface="Calibri"/>
              </a:rPr>
              <a:t>LangChain @tool wrapping the LlamaIndex retriever, top-5 similarity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Source validation: </a:t>
            </a:r>
            <a:r>
              <a:rPr sz="1400" b="0">
                <a:solidFill>
                  <a:srgbClr val="4A5560"/>
                </a:solidFill>
                <a:latin typeface="Calibri"/>
              </a:rPr>
              <a:t>keyword-overlap grounding check, capped at the 2 most relevant excerpts before any citation is trusted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•  Honesty guardrail: </a:t>
            </a:r>
            <a:r>
              <a:rPr sz="1400" b="0">
                <a:solidFill>
                  <a:srgbClr val="4A5560"/>
                </a:solidFill>
                <a:latin typeface="Calibri"/>
              </a:rPr>
              <a:t>"Information not found." when evidence is insufficient - never a guess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D4A63A"/>
                </a:solidFill>
              </a:defRPr>
            </a:pPr>
            <a:r>
              <a:t>Knowledge Base Contents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insurance_verification_policy.txt (13 sections)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Kenya-focused: plan tiers, waiting periods,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IRA/SHIF regulatory framework, DPA-aligned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verification conduct, fraud &amp; disputes.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clinical_routing_guidelines.txt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Emergency / urgent / general routing rules.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medication_dosage_reference.txt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Formulation concentrations only - pairs with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the calculator tool, no per-patient dosing.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Kenya-Data-Protection-Policy-2018.pdf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Real regulatory source document, ingested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via a custom pypdf-based loader.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Synthetic, capstone-only data throughout - clearly labeled, never presented as a real insurer.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CHAINLIT UI -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Live Evidence: Grounded Clinical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5560"/>
                </a:solidFill>
                <a:latin typeface="Calibri"/>
              </a:rPr>
              <a:t>Prompt: "A patient reports chest pain radiating to the arm along with shortness of breath — how should this be routed?"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" y="1653540"/>
            <a:ext cx="8854440" cy="4481431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ounded RAG-clinical rou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8778240" cy="44052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1691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What this proves: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57400"/>
            <a:ext cx="2331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Tool-call step (“Used LangGraph”) visible above the answer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Answer correctly classifies this as a cardiac/respiratory danger sign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Routes to the Emergency Medical Call Team per documented guidelines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Inline source citation names the exact policy section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Captured from the live Railway URL, not a local mockup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Real screenshot from the live production URL - not a mockup.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CHAINLIT UI -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Live Evidence: The Not-Found 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5560"/>
                </a:solidFill>
                <a:latin typeface="Calibri"/>
              </a:rPr>
              <a:t>Prompt: "What is the capital of France?"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" y="1653540"/>
            <a:ext cx="8854440" cy="4474531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ot-found-guardr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8778240" cy="4398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1691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What this proves: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57400"/>
            <a:ext cx="2331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A question genuinely outside the knowledge base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The tool is still called (“Used LangGraph”) - retrieval is attempted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Response is the exact string “Information not found.”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No fabricated answer, no guessing from general world knowledge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0B2A4A"/>
                </a:solidFill>
                <a:latin typeface="Calibri"/>
              </a:rPr>
              <a:t>•  Proves the grounding guardrail holds in the real deployed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Real screenshot from the live production URL - not a mockup.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STRUCTURAL REQUIREMENT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Dynamic Functional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0B2A4A"/>
                </a:solidFill>
                <a:latin typeface="Calibri"/>
              </a:rPr>
              <a:t>•  Exactly two @tool-decorated functions - no tool overload, matching the spec precisely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search_afyaplus_knowledge(question: str) -&gt; str: </a:t>
            </a:r>
            <a:r>
              <a:rPr sz="1450" b="0">
                <a:solidFill>
                  <a:srgbClr val="4A5560"/>
                </a:solidFill>
                <a:latin typeface="Calibri"/>
              </a:rPr>
              <a:t>grounded retrieval, docstring scopes when to (and not to) use it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calculate_medication_volume(prescribed_dose_mg: float, concentration_mg_per_ml: float) -&gt; str: </a:t>
            </a:r>
            <a:r>
              <a:rPr sz="1450" b="0">
                <a:solidFill>
                  <a:srgbClr val="4A5560"/>
                </a:solidFill>
                <a:latin typeface="Calibri"/>
              </a:rPr>
              <a:t>safe dose ÷ concentration arithmetic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63240"/>
            <a:ext cx="5394960" cy="3200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0B2A4A"/>
                </a:solidFill>
              </a:defRPr>
            </a:pPr>
            <a:r>
              <a:t>Type Hints + Docstrings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Full parameter and return type hints on both tools.</a:t>
            </a:r>
          </a:p>
          <a:p>
            <a:pPr>
              <a:defRPr sz="1250">
                <a:solidFill>
                  <a:srgbClr val="4A5560"/>
                </a:solidFill>
              </a:defRPr>
            </a:pP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Docstrings state exactly when to use - and NOT use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- each tool (e.g. “Do not use this tool to select a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dose, prescribe medication, diagnose...”).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063240"/>
            <a:ext cx="5394960" cy="3200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0B2A4A"/>
                </a:solidFill>
              </a:defRPr>
            </a:pPr>
            <a:r>
              <a:t>Defensive Exception Handling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Knowledge tool: broad except -&gt; clean unavailability string,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never an unhandled crash breaking the agent loop.</a:t>
            </a:r>
          </a:p>
          <a:p>
            <a:pPr>
              <a:defRPr sz="1250">
                <a:solidFill>
                  <a:srgbClr val="4A5560"/>
                </a:solidFill>
              </a:defRPr>
            </a:pP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Calculator: rejects non-finite / zero / negative inputs,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returns “Calculation error: ...” instead of raising.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Agent chooses between tools dynamically via normal tool calling - no hardcoded routing branches.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STRUCTURAL REQUIREMENT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Stateful Conversation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Runner: </a:t>
            </a:r>
            <a:r>
              <a:rPr sz="1500" b="0">
                <a:solidFill>
                  <a:srgbClr val="4A5560"/>
                </a:solidFill>
                <a:latin typeface="Calibri"/>
              </a:rPr>
              <a:t>LangChain create_agent(...) + LangGraph InMemorySaver checkpointer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Isolation: </a:t>
            </a:r>
            <a:r>
              <a:rPr sz="1500" b="0">
                <a:solidFill>
                  <a:srgbClr val="4A5560"/>
                </a:solidFill>
                <a:latin typeface="Calibri"/>
              </a:rPr>
              <a:t>per-thread_id - Chainlit issues a non-PII UUID; API callers supply a validated ID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Validation: </a:t>
            </a:r>
            <a:r>
              <a:rPr sz="1500" b="0">
                <a:solidFill>
                  <a:srgbClr val="4A5560"/>
                </a:solidFill>
                <a:latin typeface="Calibri"/>
              </a:rPr>
              <a:t>thread_id restricted to 1-128 letters/digits/underscores/hyphens (never free-form PII)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Token management: </a:t>
            </a:r>
            <a:r>
              <a:rPr sz="1500" b="0">
                <a:solidFill>
                  <a:srgbClr val="4A5560"/>
                </a:solidFill>
                <a:latin typeface="Calibri"/>
              </a:rPr>
              <a:t>trim_messages middleware keeps the model-visible window within an approximate token budget (default 2,048)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Scope: </a:t>
            </a:r>
            <a:r>
              <a:rPr sz="1500" b="0">
                <a:solidFill>
                  <a:srgbClr val="4A5560"/>
                </a:solidFill>
                <a:latin typeface="Calibri"/>
              </a:rPr>
              <a:t>trims what the model sees per call - the full checkpoint history remains available in-process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D4A63A"/>
                </a:solidFill>
              </a:defRPr>
            </a:pPr>
            <a:r>
              <a:t>Verified Behavior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Multi-turn: a follow-up question (“And elective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surgery - shorter or longer?”) correctly resolves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against the prior turn's answer.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Thread isolation: Thread A stating a fact is NOT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visible to Thread B asking about it.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Process-local by design for this prototype -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documented as a scaling constraint, not hidden.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docs/manual-testing-postman.md - Folder K/L exercise both scenarios end to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STRUCTURAL REQUIREMENT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Compliance De-masking Output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0B2A4A"/>
                </a:solidFill>
                <a:latin typeface="Calibri"/>
              </a:rPr>
              <a:t>•  Original credentials are re-injected only into the final, approved text - the very last step before the user sees it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demask(): </a:t>
            </a:r>
            <a:r>
              <a:rPr sz="1450" b="0">
                <a:solidFill>
                  <a:srgbClr val="4A5560"/>
                </a:solidFill>
                <a:latin typeface="Calibri"/>
              </a:rPr>
              <a:t>replaces only tokens present in THIS request's vault - never expands an unknown or invented placeholder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Request-local vault: </a:t>
            </a:r>
            <a:r>
              <a:rPr sz="1450" b="0">
                <a:solidFill>
                  <a:srgbClr val="4A5560"/>
                </a:solidFill>
                <a:latin typeface="Calibri"/>
              </a:rPr>
              <a:t>a private, repr=False field - never enters LangGraph memory, never written to Qdrant, never returned raw by the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66160"/>
            <a:ext cx="2057400" cy="109728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Masked</a:t>
            </a:r>
            <a:br/>
            <a:r>
              <a:rPr sz="1300" b="1">
                <a:solidFill>
                  <a:srgbClr val="FFFFFF"/>
                </a:solidFill>
              </a:rPr>
              <a:t>Request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&lt;&lt;PHONE_1&gt;&gt;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4005072"/>
            <a:ext cx="22860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40" y="3566160"/>
            <a:ext cx="2057400" cy="109728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 +</a:t>
            </a:r>
            <a:br/>
            <a:r>
              <a:rPr sz="1300" b="1">
                <a:solidFill>
                  <a:srgbClr val="FFFFFF"/>
                </a:solidFill>
              </a:rPr>
              <a:t>Tools + RAG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never sees raw PII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20640" y="4005072"/>
            <a:ext cx="22860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49240" y="3566160"/>
            <a:ext cx="2057400" cy="109728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Masked</a:t>
            </a:r>
            <a:br/>
            <a:r>
              <a:rPr sz="1300" b="1">
                <a:solidFill>
                  <a:srgbClr val="FFFFFF"/>
                </a:solidFill>
              </a:rPr>
              <a:t>Response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placeholders intact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06640" y="4005072"/>
            <a:ext cx="22860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5240" y="3566160"/>
            <a:ext cx="2057400" cy="1097280"/>
          </a:xfrm>
          <a:prstGeom prst="roundRect">
            <a:avLst/>
          </a:prstGeom>
          <a:solidFill>
            <a:srgbClr val="D4A63A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De-mask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restore_output()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92640" y="4005072"/>
            <a:ext cx="228600" cy="219456"/>
          </a:xfrm>
          <a:prstGeom prst="rightArrow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21240" y="3566160"/>
            <a:ext cx="2057400" cy="1097280"/>
          </a:xfrm>
          <a:prstGeom prst="roundRect">
            <a:avLst/>
          </a:prstGeom>
          <a:solidFill>
            <a:srgbClr val="1E7D32"/>
          </a:solidFill>
          <a:ln w="127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Final</a:t>
            </a:r>
            <a:br/>
            <a:r>
              <a:rPr sz="1300" b="1">
                <a:solidFill>
                  <a:srgbClr val="FFFFFF"/>
                </a:solidFill>
              </a:rPr>
              <a:t>Answer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PII restored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Both directions of this round trip are independently logged - see Audit Capability, next.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AUDIT CAPABILITY -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Every Answer Is Traceable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Citations, not assertions: </a:t>
            </a:r>
            <a:r>
              <a:rPr sz="1450" b="0">
                <a:solidFill>
                  <a:srgbClr val="4A5560"/>
                </a:solidFill>
                <a:latin typeface="Calibri"/>
              </a:rPr>
              <a:t>every grounded claim carries an inline [Source: filename] - a reviewer can open that exact document and check it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Deterministic refusal: </a:t>
            </a:r>
            <a:r>
              <a:rPr sz="1450" b="0">
                <a:solidFill>
                  <a:srgbClr val="4A5560"/>
                </a:solidFill>
                <a:latin typeface="Calibri"/>
              </a:rPr>
              <a:t>when evidence is insufficient the system returns the exact string "Information not found." - never a fabricated or partial citation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Every turn is keyed: </a:t>
            </a:r>
            <a:r>
              <a:rPr sz="1450" b="0">
                <a:solidFill>
                  <a:srgbClr val="4A5560"/>
                </a:solidFill>
                <a:latin typeface="Calibri"/>
              </a:rPr>
              <a:t>responses are tied to a validated thread_id, so a full conversation can be reconstructed from logs on demand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temperature=0: </a:t>
            </a:r>
            <a:r>
              <a:rPr sz="1450" b="0">
                <a:solidFill>
                  <a:srgbClr val="4A5560"/>
                </a:solidFill>
                <a:latin typeface="Calibri"/>
              </a:rPr>
              <a:t>chat model calls are deterministic, not creative - locked in by a regression test so it can't silently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09160"/>
            <a:ext cx="5760720" cy="14630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D4A63A"/>
                </a:solidFill>
              </a:defRPr>
            </a:pPr>
            <a:r>
              <a:t>Real production log line - proof, not a claim</a:t>
            </a:r>
          </a:p>
          <a:p>
            <a:pPr>
              <a:defRPr sz="1100">
                <a:solidFill>
                  <a:srgbClr val="7CE38F"/>
                </a:solidFill>
                <a:latin typeface="Consolas"/>
              </a:defRPr>
            </a:pPr>
            <a:r>
              <a:t>INFO app.safeguards.middleware: Masked 1 PII</a:t>
            </a:r>
          </a:p>
          <a:p>
            <a:pPr>
              <a:defRPr sz="1100">
                <a:solidFill>
                  <a:srgbClr val="7CE38F"/>
                </a:solidFill>
                <a:latin typeface="Consolas"/>
              </a:defRPr>
            </a:pPr>
            <a:r>
              <a:t>item(s) for thread &lt;id&gt;: Call me at &lt;&lt;PHONE_1&gt;&gt;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D4A63A"/>
                </a:solidFill>
              </a:defRPr>
            </a:pPr>
            <a:r>
              <a:t>How This Is Enforced in Code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app/safeguards/middleware.py logs BOTH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halves of the mask/demask round trip: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Inbound: logs the MASKED message only -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safe by construction, it logs masked_text,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never the raw request.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Outbound: logs only a COUNT of restored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placeholders, never the restored content -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that's exactly where real PII reappears.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Regression-tested: caplog assertions prove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raw PII can never land in a log record.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AUDIT CAPABILITY -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Every Change Is Traceable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0B2A4A"/>
                </a:solidFill>
                <a:latin typeface="Calibri"/>
              </a:rPr>
              <a:t>•  Semantic git history: </a:t>
            </a:r>
            <a:r>
              <a:rPr sz="1350" b="0">
                <a:solidFill>
                  <a:srgbClr val="4A5560"/>
                </a:solidFill>
                <a:latin typeface="Calibri"/>
              </a:rPr>
              <a:t>one logical change per commit, conventional-commit types, full rationale in the commit body - never just “fix bug”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A4A"/>
                </a:solidFill>
                <a:latin typeface="Calibri"/>
              </a:rPr>
              <a:t>•  81 automated tests: </a:t>
            </a:r>
            <a:r>
              <a:rPr sz="1350" b="0">
                <a:solidFill>
                  <a:srgbClr val="4A5560"/>
                </a:solidFill>
                <a:latin typeface="Calibri"/>
              </a:rPr>
              <a:t>gate every change; run before any change is considered done, not just before release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A4A"/>
                </a:solidFill>
                <a:latin typeface="Calibri"/>
              </a:rPr>
              <a:t>•  CI on every push: </a:t>
            </a:r>
            <a:r>
              <a:rPr sz="1350" b="0">
                <a:solidFill>
                  <a:srgbClr val="4A5560"/>
                </a:solidFill>
                <a:latin typeface="Calibri"/>
              </a:rPr>
              <a:t>GitHub Actions runs pip check, the full suite, compileall, and a diff check on every PR and push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0B2A4A"/>
                </a:solidFill>
                <a:latin typeface="Calibri"/>
              </a:rPr>
              <a:t>•  Continuous handoff record: </a:t>
            </a:r>
            <a:r>
              <a:rPr sz="1350" b="0">
                <a:solidFill>
                  <a:srgbClr val="4A5560"/>
                </a:solidFill>
                <a:latin typeface="Calibri"/>
              </a:rPr>
              <a:t>a living checkpoint documents what changed, why, its test status, and whether it's deployed - kept current, not written after the 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D4A63A"/>
                </a:solidFill>
              </a:defRPr>
            </a:pPr>
            <a:r>
              <a:t>Case Study: Two Real Bugs, Caught Live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1. A compound question intermittently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returned a false “not found.” Fixed once,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verified live - found the fix was incomplete.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2. Rebuilding the knowledge base surfaced a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second, deeper bug: broad keyword matches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flooded the model with 8000+ chars of text,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breaking its synthesis entirely.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Root-caused precisely, fixed, verified against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the REAL production model via `railway run`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before ever deploying - not just locally.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Both fixes, and one reverted attempt, are in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the git log with full reasoning - not just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in this deck.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An audit trail that only shows successes isn't an audit trail - this one shows the corrections too.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SUBMISSION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Deliverables Portfolio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920240"/>
            <a:ext cx="685800" cy="685800"/>
          </a:xfrm>
          <a:prstGeom prst="ellipse">
            <a:avLst/>
          </a:prstGeom>
          <a:solidFill>
            <a:srgbClr val="1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190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Production 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4884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0"/>
                </a:solidFill>
                <a:latin typeface="Calibri"/>
              </a:rPr>
              <a:t>feat-rag-agent-system branch, semantic commits, PR #30 open into main (never pushed to main directly).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11247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520440"/>
            <a:ext cx="685800" cy="685800"/>
          </a:xfrm>
          <a:prstGeom prst="ellipse">
            <a:avLst/>
          </a:prstGeom>
          <a:solidFill>
            <a:srgbClr val="1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192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Complete, Runnable System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4904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0"/>
                </a:solidFill>
                <a:latin typeface="Calibri"/>
              </a:rPr>
              <a:t>app/ layered structure, knowledge/, tests/, docs/, .env.example, requirements.txt.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47120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5120640"/>
            <a:ext cx="685800" cy="685800"/>
          </a:xfrm>
          <a:prstGeom prst="ellipse">
            <a:avLst/>
          </a:prstGeom>
          <a:solidFill>
            <a:srgbClr val="1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194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Architecture Document (README.md)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4924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0"/>
                </a:solidFill>
                <a:latin typeface="Calibri"/>
              </a:rPr>
              <a:t>orchestration design, token management, compliance guardrails - plus a full docs/ suite.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ENTERPRISE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Beyond the Brief: Production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Served, not scripted: </a:t>
            </a:r>
            <a:r>
              <a:rPr sz="1450" b="0">
                <a:solidFill>
                  <a:srgbClr val="4A5560"/>
                </a:solidFill>
                <a:latin typeface="Calibri"/>
              </a:rPr>
              <a:t>FastAPI (/health, /chat) with the Chainlit browser UI mounted at /ui in the same process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Deployed: </a:t>
            </a:r>
            <a:r>
              <a:rPr sz="1450" b="0">
                <a:solidFill>
                  <a:srgbClr val="4A5560"/>
                </a:solidFill>
                <a:latin typeface="Calibri"/>
              </a:rPr>
              <a:t>live on Railway - https://afyaplus-rag-agent-production.up.railway.app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CI/CD: </a:t>
            </a:r>
            <a:r>
              <a:rPr sz="1450" b="0">
                <a:solidFill>
                  <a:srgbClr val="4A5560"/>
                </a:solidFill>
                <a:latin typeface="Calibri"/>
              </a:rPr>
              <a:t>GitHub Actions runs pip check, full pytest suite, compileall, and a diff check on every PR/push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Abuse prevention: </a:t>
            </a:r>
            <a:r>
              <a:rPr sz="1450" b="0">
                <a:solidFill>
                  <a:srgbClr val="4A5560"/>
                </a:solidFill>
                <a:latin typeface="Calibri"/>
              </a:rPr>
              <a:t>hashed-key rolling rate limits (per-minute/day) on the unauthenticated chat surface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Provider resilience: </a:t>
            </a:r>
            <a:r>
              <a:rPr sz="1450" b="0">
                <a:solidFill>
                  <a:srgbClr val="4A5560"/>
                </a:solidFill>
                <a:latin typeface="Calibri"/>
              </a:rPr>
              <a:t>explicit, logged fallback to the other chat provider on failure - never silent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D4A63A"/>
                </a:solidFill>
              </a:defRPr>
            </a:pPr>
            <a:r>
              <a:t>Live Smoke-Tested Behavior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Q: "How does AfyaPlus coordinate with SHA/SHIF?"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-&gt; Correct grounded answer, structured, cited.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Q: "Capital of France?"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-&gt; "Information not found." (guardrail holds)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Q: "Dose of paracetamol for a 2-year-old?"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-&gt; Refused - even with a formulation-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 reference doc live in the knowledge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Verified against the real production URL after every deploy, not just unit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REPOSITORY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Git Flow &amp; Code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Repository layout: </a:t>
            </a:r>
            <a:r>
              <a:rPr sz="1500" b="0">
                <a:solidFill>
                  <a:srgbClr val="4A5560"/>
                </a:solidFill>
                <a:latin typeface="Calibri"/>
              </a:rPr>
              <a:t>app/agent, app/rag, app/safeguards, app/models, app/utils, docs/, tests/, knowledge/ - never flat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Branch isolation: </a:t>
            </a:r>
            <a:r>
              <a:rPr sz="1500" b="0">
                <a:solidFill>
                  <a:srgbClr val="4A5560"/>
                </a:solidFill>
                <a:latin typeface="Calibri"/>
              </a:rPr>
              <a:t>one feature branch (feat-rag-agent-system), 57 commits ahead of main, zero direct pushes to main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Semantic commits: </a:t>
            </a:r>
            <a:r>
              <a:rPr sz="1500" b="0">
                <a:solidFill>
                  <a:srgbClr val="4A5560"/>
                </a:solidFill>
                <a:latin typeface="Calibri"/>
              </a:rPr>
              <a:t>consistent feat/fix/docs/test/perf/refactor/revert(scope): description throughout the history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A4A"/>
                </a:solidFill>
                <a:latin typeface="Calibri"/>
              </a:rPr>
              <a:t>•  Pull request: </a:t>
            </a:r>
            <a:r>
              <a:rPr sz="1500" b="0">
                <a:solidFill>
                  <a:srgbClr val="4A5560"/>
                </a:solidFill>
                <a:latin typeface="Calibri"/>
              </a:rPr>
              <a:t>PR #30 open into main, description kept current with the branch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8A630A"/>
                </a:solidFill>
              </a:defRPr>
            </a:pPr>
            <a:r>
              <a:t>Honest Self-Assessment</a:t>
            </a:r>
          </a:p>
          <a:p>
            <a:pPr>
              <a:defRPr sz="1250">
                <a:solidFill>
                  <a:srgbClr val="5A4208"/>
                </a:solidFill>
              </a:defRPr>
            </a:pP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PR #30 is open but not yet peer-reviewed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or merged - everything else about the git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flow is clean, but “thorough PR peer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review” isn't fully cleared until that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review actually happens.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Stated plainly - an honest gap is stronger evidence of rigor than an unclaimed “full marks.”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PRIVACY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Ethical Safeguards &amp; the Kenya DPA (2019)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0B2A4A"/>
                </a:solidFill>
                <a:latin typeface="Calibri"/>
              </a:rPr>
              <a:t>•  Both +254 and leading-0 Kenyan phone formats handled, plus Safaricom/Airtel and Telkom ranges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0B2A4A"/>
                </a:solidFill>
                <a:latin typeface="Calibri"/>
              </a:rPr>
              <a:t>•  Full request/response cycle wrapped - raw PII never reaches the model, memory, or Qdrant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0B2A4A"/>
                </a:solidFill>
                <a:latin typeface="Calibri"/>
              </a:rPr>
              <a:t>•  Clinical context proven to survive masking unmangled (no over-masking)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0B2A4A"/>
                </a:solidFill>
                <a:latin typeface="Calibri"/>
              </a:rPr>
              <a:t>•  Knowledge base now includes a real Data Protection Policy 2018 (Kenya) reference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577840" cy="205740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8A630A"/>
                </a:solidFill>
              </a:defRPr>
            </a:pPr>
            <a:r>
              <a:t>Scope, stated plainly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Masking covers 3 fixed-format identifiers only.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Names, National ID, KRA PIN, addresses, and free-text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identifiers are NOT yet masked - a real gap, documented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in privacy.md with the specific list and why closing it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needs NER, not just more regex. Full DPA “compliance”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also needs consent flows, data-subject rights, audit</a:t>
            </a:r>
          </a:p>
          <a:p>
            <a:pPr>
              <a:defRPr sz="1250">
                <a:solidFill>
                  <a:srgbClr val="5A4208"/>
                </a:solidFill>
              </a:defRPr>
            </a:pPr>
            <a:r>
              <a:t>logging, and legal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394960" cy="4480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D4A63A"/>
                </a:solidFill>
              </a:defRPr>
            </a:pPr>
            <a:r>
              <a:t>New Insurance Policy Sections</a:t>
            </a:r>
          </a:p>
          <a:p>
            <a:pPr>
              <a:defRPr sz="1250">
                <a:solidFill>
                  <a:srgbClr val="FFFFFF"/>
                </a:solidFill>
              </a:defRPr>
            </a:pP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8. Regulatory Framework (IRA, Insurance Act)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9. Coordination of Benefits with SHA/SHIF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10. Data Protection During Verification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     - ties directly to the new DPA PDF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11. Fraud Prevention &amp; Verification Integrity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12. Complaints &amp; Dispute Resolution (IRA, ODPC)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13. Plan Renewal &amp; Waiting-Period Portability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HOW THIS WAS ACTUALLY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Testing &amp; Verification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81 automated tests: </a:t>
            </a:r>
            <a:r>
              <a:rPr sz="1450" b="0">
                <a:solidFill>
                  <a:srgbClr val="4A5560"/>
                </a:solidFill>
                <a:latin typeface="Calibri"/>
              </a:rPr>
              <a:t>masking, de-masking, retrieval, grounding, memory, tools, config, prompts, rate limiting, deployment config, Chainlit config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uv pip check / compileall / diff --check: </a:t>
            </a:r>
            <a:r>
              <a:rPr sz="1450" b="0">
                <a:solidFill>
                  <a:srgbClr val="4A5560"/>
                </a:solidFill>
                <a:latin typeface="Calibri"/>
              </a:rPr>
              <a:t>run before every change is considered done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Real smoke tests, not just mocks: </a:t>
            </a:r>
            <a:r>
              <a:rPr sz="1450" b="0">
                <a:solidFill>
                  <a:srgbClr val="4A5560"/>
                </a:solidFill>
                <a:latin typeface="Calibri"/>
              </a:rPr>
              <a:t>live Qdrant Cloud ingestion + retrieval verified before touching the production collection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Live production verification: </a:t>
            </a:r>
            <a:r>
              <a:rPr sz="1450" b="0">
                <a:solidFill>
                  <a:srgbClr val="4A5560"/>
                </a:solidFill>
                <a:latin typeface="Calibri"/>
              </a:rPr>
              <a:t>actual HTTPS requests against the deployed Railway URL after every deploy, not just localhost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0B2A4A"/>
                </a:solidFill>
              </a:defRPr>
            </a:pPr>
            <a:r>
              <a:t>Verification Against the REAL Model</a:t>
            </a:r>
          </a:p>
          <a:p>
            <a:pPr>
              <a:defRPr sz="1250">
                <a:solidFill>
                  <a:srgbClr val="4A5560"/>
                </a:solidFill>
              </a:defRPr>
            </a:pP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A fix was tested locally, looked correct, then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regressed live - twice this cycle.</a:t>
            </a:r>
          </a:p>
          <a:p>
            <a:pPr>
              <a:defRPr sz="1250">
                <a:solidFill>
                  <a:srgbClr val="4A5560"/>
                </a:solidFill>
              </a:defRPr>
            </a:pP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The lesson applied: `railway run` now lets a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fix be tested against the real production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model and Qdrant credentials, without ever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touching the secret directly, BEFORE deploying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- not just trusting a local pass.</a:t>
            </a:r>
          </a:p>
          <a:p>
            <a:pPr>
              <a:defRPr sz="1250">
                <a:solidFill>
                  <a:srgbClr val="4A5560"/>
                </a:solidFill>
              </a:defRPr>
            </a:pP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A fix isn't “done” until it's verified against</a:t>
            </a:r>
          </a:p>
          <a:p>
            <a:pPr>
              <a:defRPr sz="1250">
                <a:solidFill>
                  <a:srgbClr val="4A5560"/>
                </a:solidFill>
              </a:defRPr>
            </a:pPr>
            <a:r>
              <a:t>the same model and data production uses.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0"/>
                </a:solidFill>
                <a:latin typeface="Calibri"/>
              </a:rPr>
              <a:t>Verification means running the real thing, not just trusting that new code should work.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63A"/>
                </a:solidFill>
                <a:latin typeface="Calibri"/>
              </a:rPr>
              <a:t>STATED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Known Limitations &amp; Future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PII masking scope: </a:t>
            </a:r>
            <a:r>
              <a:rPr sz="1250" b="0">
                <a:solidFill>
                  <a:srgbClr val="4A5560"/>
                </a:solidFill>
                <a:latin typeface="Calibri"/>
              </a:rPr>
              <a:t>3 fixed-format identifiers only - names, National ID, KRA PIN, addresses not yet covered; needs NER, not just more patterns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PDF text extraction quality: </a:t>
            </a:r>
            <a:r>
              <a:rPr sz="1250" b="0">
                <a:solidFill>
                  <a:srgbClr val="4A5560"/>
                </a:solidFill>
                <a:latin typeface="Calibri"/>
              </a:rPr>
              <a:t>raw pypdf output has layout artifacts (page markers, irregular whitespace) that can still confuse synthesis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Free-tier model throttling: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production chat model is Ollama Cloud's free tier; bursty testing has visibly degraded response quality for a period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No authentication anywhere: </a:t>
            </a:r>
            <a:r>
              <a:rPr sz="1250" b="0">
                <a:solidFill>
                  <a:srgbClr val="4A5560"/>
                </a:solidFill>
                <a:latin typeface="Calibri"/>
              </a:rPr>
              <a:t>confirmed by code review, not assumed - rate limiting is the only abuse control, scoped to IP/session, not identity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Process-local memory &amp; limiter: </a:t>
            </a:r>
            <a:r>
              <a:rPr sz="1250" b="0">
                <a:solidFill>
                  <a:srgbClr val="4A5560"/>
                </a:solidFill>
                <a:latin typeface="Calibri"/>
              </a:rPr>
              <a:t>reset on restart, would fragment across replicas - pinned to one worker specifically because of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Fixed this cycle: </a:t>
            </a:r>
            <a:r>
              <a:rPr sz="1250" b="0">
                <a:solidFill>
                  <a:srgbClr val="4A5560"/>
                </a:solidFill>
                <a:latin typeface="Calibri"/>
              </a:rPr>
              <a:t>similarity_top_k tuning + a grounded-source cap resolved two real production retrieval bugs, verified against the real model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Now live: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Qdrant collection was rebuilt - all 4 knowledge documents (25 chunks) are retrievable in production, not just written and tested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PR #30 review: </a:t>
            </a:r>
            <a:r>
              <a:rPr sz="1250" b="0">
                <a:solidFill>
                  <a:srgbClr val="4A5560"/>
                </a:solidFill>
                <a:latin typeface="Calibri"/>
              </a:rPr>
              <a:t>get it reviewed and merged to close the Git Flow gap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B2A4A"/>
                </a:solidFill>
                <a:latin typeface="Calibri"/>
              </a:rPr>
              <a:t>•  Full future-scaling audit: </a:t>
            </a:r>
            <a:r>
              <a:rPr sz="1250" b="0">
                <a:solidFill>
                  <a:srgbClr val="4A5560"/>
                </a:solidFill>
                <a:latin typeface="Calibri"/>
              </a:rPr>
              <a:t>a categorized breakdown (retrieval, agent/model, memory, access control, observability, compliance, CI) lives in docs/architecture.md, kept current as new gaps are found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34840"/>
            <a:ext cx="12191695" cy="73152"/>
          </a:xfrm>
          <a:prstGeom prst="rect">
            <a:avLst/>
          </a:prstGeom>
          <a:solidFill>
            <a:srgbClr val="D4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D6E3"/>
                </a:solidFill>
                <a:latin typeface="Calibri"/>
              </a:rPr>
              <a:t>AfyaPlus Enterprise-Grade RAG-Powered 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4A63A"/>
                </a:solidFill>
                <a:latin typeface="Calibri"/>
              </a:rPr>
              <a:t>Questions welcome - architecture, code, or live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github.com/pmutua/AfyaPlus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afyaplus-rag-agent-production.up.railway.app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